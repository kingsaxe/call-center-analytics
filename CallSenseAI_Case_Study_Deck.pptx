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1" d="100"/>
          <a:sy n="31" d="100"/>
        </p:scale>
        <p:origin x="47" y="1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AA4B0-FD73-31DF-F4E5-7833B8F1D2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55F8E8-0114-FDAA-C446-D1F106E83F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2B6F3-BE00-4B62-7506-22167317A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FC2E-8079-4949-AE91-1037470F1E4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7CA95-A09A-279B-BE11-790B05D10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8DBC1-C462-2DA3-D2D8-07D383952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18341-CD4D-4BD6-BAFE-F51C11A6C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721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4BCC6-0376-B1A7-D465-1EC9E542A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E147C-FC8F-8693-2204-E339B9C05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58A47-BD6C-7020-91C8-A7E276875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FC2E-8079-4949-AE91-1037470F1E4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7C74C-5540-2ED2-B38A-B2D78DE45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291BE-9CAF-6C0A-1D14-09854877B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18341-CD4D-4BD6-BAFE-F51C11A6C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574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F1DB9-4315-1D8C-9ADE-E679D302F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D05031-9E61-C45F-1362-19907015F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2DC07-CD17-EA92-3D2F-D9A2424F7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FC2E-8079-4949-AE91-1037470F1E4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C5BBE-E884-C8A0-D92F-313842632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6FD3C-9689-20B8-D35F-CB13896E9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18341-CD4D-4BD6-BAFE-F51C11A6C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72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6C7AD-CA70-2E34-5F95-246BF198E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C3E23-8DE9-0E1C-514A-2FD538AC66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F41C1E-0DC7-B1F3-B27C-5A698C6FC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4567B4-7E62-7AC9-75A6-52BDCB87D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FC2E-8079-4949-AE91-1037470F1E4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D00166-4403-4F06-DD3C-D63F59EC3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042A69-7105-5625-9FD1-89FCC58C9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18341-CD4D-4BD6-BAFE-F51C11A6C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692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E2C18-1774-ABA5-8211-E7635CFBA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60139-0C7D-8EE8-3A8D-6B4BE2080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18344-9C8A-B273-FCE8-34DA091F5C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76EC22-D8BD-5499-3F56-AA38C8903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E1A04F-A229-A7D5-1F9D-4A9B4CE7EE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50E4A5-1903-D21D-044E-747E39A95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FC2E-8079-4949-AE91-1037470F1E4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9603CD-3506-5535-5C99-C4F0427A3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1056B1-7EE6-D5AC-984B-70A0627BC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18341-CD4D-4BD6-BAFE-F51C11A6C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98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0B6BB-DA45-A93D-ACFE-CE1CF2FCF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633CDA-3F1D-CEF7-0F14-4E394ED6B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FC2E-8079-4949-AE91-1037470F1E4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19E071-CECE-F379-FD97-16E2C896A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21603C-CB30-7615-A523-B0A977FA3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18341-CD4D-4BD6-BAFE-F51C11A6C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064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09A58F-872E-8297-940C-0CD18F50B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FC2E-8079-4949-AE91-1037470F1E4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86CEB2-CBB0-B376-6AD4-15A549575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10555-C1E9-031F-EC81-6E844E9D5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18341-CD4D-4BD6-BAFE-F51C11A6C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699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2968C-D1A3-64AA-CA0F-AB265318D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00872-8D4E-016C-A44B-7CDF9BCD7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819238-32B7-8B72-C768-E586E916FF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26FC7-C242-C4F5-468B-6C20E4D6B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FC2E-8079-4949-AE91-1037470F1E4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F5FACD-3F9E-FC9C-31B6-F44F919AA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257C1D-3402-B37B-0705-595FA8C8F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18341-CD4D-4BD6-BAFE-F51C11A6C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573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877AF-6F29-5678-57A8-067C3C46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7778BE-3B62-9D8B-EC6D-D0D6BD0F41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C2411D-65DB-90DF-5399-E669CC1D2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9F00C9-4DB7-4B19-89E2-C2BF19EF0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FC2E-8079-4949-AE91-1037470F1E4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597FE2-6311-6A58-D83F-E62EC2533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0D3B7A-4F81-B9C3-DD0C-D1CFB054C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18341-CD4D-4BD6-BAFE-F51C11A6C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222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46C31-C843-8ED1-3213-8C2182557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DCD24-E843-9D22-ED3D-02DD439510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DEE34-7586-1FCB-B8F6-458E876AD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FC2E-8079-4949-AE91-1037470F1E4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BD77B-C14B-7438-1B21-0D91E5485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5855F-372F-C90E-4367-CF6FC80DE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18341-CD4D-4BD6-BAFE-F51C11A6C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729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B1F3FB-CF85-FF65-40F4-2E284F2E6F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0ECFF1-5E82-75AC-C9FE-F3107133F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BC902-D190-BA16-6ECA-B878B5E05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FC2E-8079-4949-AE91-1037470F1E4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8EEEA-451F-A5DA-B93D-0660C016E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3F46C-C04E-1B1D-37D7-2F9D65F7E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18341-CD4D-4BD6-BAFE-F51C11A6C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579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11026C-F3BE-31A6-C09B-4B377FE52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0D8936-08FC-B5FF-DB12-907B59150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5C19B-B5F9-1597-19E1-FD4189B69A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C2FC2E-8079-4949-AE91-1037470F1E4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7149B-5A4E-9FFA-C03D-81F3174577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A3E44-509D-83DA-4113-89C0EA94F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18341-CD4D-4BD6-BAFE-F51C11A6C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716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07EDA-4573-72F2-1B6F-A3E2E2A544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Aptos Display" panose="020B0004020202020204" pitchFamily="34" charset="0"/>
              </a:rPr>
              <a:t>From Business Problem to Clear Requirements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F3526E-AE99-71E8-AD07-673F736A84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800">
                <a:solidFill>
                  <a:srgbClr val="F2F2F2"/>
                </a:solidFill>
                <a:latin typeface="Aptos" panose="020B0004020202020204" pitchFamily="34" charset="0"/>
              </a:rPr>
              <a:t>A Practical Framework Using a Real Case Study</a:t>
            </a:r>
          </a:p>
          <a:p>
            <a:r>
              <a:rPr lang="en-US" sz="1800">
                <a:solidFill>
                  <a:srgbClr val="F2F2F2"/>
                </a:solidFill>
                <a:latin typeface="Aptos" panose="020B0004020202020204" pitchFamily="34" charset="0"/>
              </a:rPr>
              <a:t>Presented by: Kingsley Ohere</a:t>
            </a:r>
          </a:p>
        </p:txBody>
      </p:sp>
    </p:spTree>
    <p:extLst>
      <p:ext uri="{BB962C8B-B14F-4D97-AF65-F5344CB8AC3E}">
        <p14:creationId xmlns:p14="http://schemas.microsoft.com/office/powerpoint/2010/main" val="585304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EB7BF-F8A3-8AB9-48D9-0CE1F7F63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solidFill>
                  <a:srgbClr val="2F2F2F"/>
                </a:solidFill>
                <a:latin typeface="Aptos Display" panose="020B0004020202020204" pitchFamily="34" charset="0"/>
              </a:rPr>
              <a:t>The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967B5-D2B0-8EBA-774C-074FD9289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A company is facing two issues: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Sales are declining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Customer reviews are getting worse</a:t>
            </a:r>
          </a:p>
          <a:p>
            <a:endParaRPr lang="en-US" sz="1800">
              <a:solidFill>
                <a:srgbClr val="2F2F2F"/>
              </a:solidFill>
              <a:latin typeface="Aptos" panose="020B0004020202020204" pitchFamily="34" charset="0"/>
            </a:endParaRP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Leadership asks: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"Can we build a dashboard or AI system to fix this?"</a:t>
            </a:r>
          </a:p>
          <a:p>
            <a:endParaRPr lang="en-US" sz="1800">
              <a:solidFill>
                <a:srgbClr val="2F2F2F"/>
              </a:solidFill>
              <a:latin typeface="Aptos" panose="020B0004020202020204" pitchFamily="34" charset="0"/>
            </a:endParaRP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Question: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Build immediately, or understand the problem first?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1CD4B6-814C-C51A-04A6-A56562A12040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9C64FF-2AA1-3AD7-162B-5CE7FDD8DB79}"/>
              </a:ext>
            </a:extLst>
          </p:cNvPr>
          <p:cNvSpPr txBox="1"/>
          <p:nvPr/>
        </p:nvSpPr>
        <p:spPr>
          <a:xfrm>
            <a:off x="304800" y="6502400"/>
            <a:ext cx="355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B7464"/>
                </a:solidFill>
                <a:latin typeface="Aptos" panose="020B0004020202020204" pitchFamily="34" charset="0"/>
              </a:rPr>
              <a:t>CallSense-AI teaching deck</a:t>
            </a:r>
          </a:p>
        </p:txBody>
      </p:sp>
    </p:spTree>
    <p:extLst>
      <p:ext uri="{BB962C8B-B14F-4D97-AF65-F5344CB8AC3E}">
        <p14:creationId xmlns:p14="http://schemas.microsoft.com/office/powerpoint/2010/main" val="2418925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3DDDE-BE9C-F099-5F5F-C337B411B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solidFill>
                  <a:srgbClr val="2F2F2F"/>
                </a:solidFill>
                <a:latin typeface="Aptos Display" panose="020B0004020202020204" pitchFamily="34" charset="0"/>
              </a:rPr>
              <a:t>The Common Mistake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2AC37-0CCA-B011-527D-CBFDE5033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Jumping straight into solutions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Building dashboards too early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Applying AI without clarity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Solving symptoms, not the real problem</a:t>
            </a:r>
          </a:p>
          <a:p>
            <a:endParaRPr lang="en-US" sz="1800">
              <a:solidFill>
                <a:srgbClr val="2F2F2F"/>
              </a:solidFill>
              <a:latin typeface="Aptos" panose="020B0004020202020204" pitchFamily="34" charset="0"/>
            </a:endParaRP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Result: wasted time, wrong solutions, poor outcomes</a:t>
            </a:r>
          </a:p>
          <a:p>
            <a:endParaRPr lang="en-US" sz="1800">
              <a:solidFill>
                <a:srgbClr val="2F2F2F"/>
              </a:solidFill>
              <a:latin typeface="Aptos" panose="020B0004020202020204" pitchFamily="34" charset="0"/>
            </a:endParaRP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Discussion: Why is this risky?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1EC65A-EAFD-AEA4-825B-9E6E9F25E90F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5DC29C-FA22-489A-1F3B-86D4A4602DC6}"/>
              </a:ext>
            </a:extLst>
          </p:cNvPr>
          <p:cNvSpPr txBox="1"/>
          <p:nvPr/>
        </p:nvSpPr>
        <p:spPr>
          <a:xfrm>
            <a:off x="304800" y="6502400"/>
            <a:ext cx="355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B7464"/>
                </a:solidFill>
                <a:latin typeface="Aptos" panose="020B0004020202020204" pitchFamily="34" charset="0"/>
              </a:rPr>
              <a:t>CallSense-AI teaching deck</a:t>
            </a:r>
          </a:p>
        </p:txBody>
      </p:sp>
    </p:spTree>
    <p:extLst>
      <p:ext uri="{BB962C8B-B14F-4D97-AF65-F5344CB8AC3E}">
        <p14:creationId xmlns:p14="http://schemas.microsoft.com/office/powerpoint/2010/main" val="3214636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642D3-7AE8-93BE-8D81-FBA6AF492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solidFill>
                  <a:srgbClr val="2F2F2F"/>
                </a:solidFill>
                <a:latin typeface="Aptos Display" panose="020B0004020202020204" pitchFamily="34" charset="0"/>
              </a:rPr>
              <a:t>A Simple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2B2C7-907B-1D17-6DB7-0F49152C6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How do we approach this properly?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1. Clarify the business problem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2. Identify stakeholders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3. Break into requirements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4. Define success metrics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B5C15D-3D1E-C80A-7438-5ADB5BFA5F10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A255A1-AC4D-C671-3587-2B7FD8428E7F}"/>
              </a:ext>
            </a:extLst>
          </p:cNvPr>
          <p:cNvSpPr txBox="1"/>
          <p:nvPr/>
        </p:nvSpPr>
        <p:spPr>
          <a:xfrm>
            <a:off x="304800" y="6502400"/>
            <a:ext cx="355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B7464"/>
                </a:solidFill>
                <a:latin typeface="Aptos" panose="020B0004020202020204" pitchFamily="34" charset="0"/>
              </a:rPr>
              <a:t>CallSense-AI teaching deck</a:t>
            </a:r>
          </a:p>
        </p:txBody>
      </p:sp>
    </p:spTree>
    <p:extLst>
      <p:ext uri="{BB962C8B-B14F-4D97-AF65-F5344CB8AC3E}">
        <p14:creationId xmlns:p14="http://schemas.microsoft.com/office/powerpoint/2010/main" val="1004530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476F7-4954-BC7E-898D-7BD72EA5C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solidFill>
                  <a:srgbClr val="2F2F2F"/>
                </a:solidFill>
                <a:latin typeface="Aptos Display" panose="020B0004020202020204" pitchFamily="34" charset="0"/>
              </a:rPr>
              <a:t>Step 1: Clarify 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77A56-089A-BB99-D0E9-BC5AF8711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Start with the right question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"Sales are dropping" is a symptom.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Ask why: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Are customers leaving?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Is conversion declining?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Is customer experience poor?</a:t>
            </a:r>
          </a:p>
          <a:p>
            <a:endParaRPr lang="en-US" sz="1800">
              <a:solidFill>
                <a:srgbClr val="2F2F2F"/>
              </a:solidFill>
              <a:latin typeface="Aptos" panose="020B0004020202020204" pitchFamily="34" charset="0"/>
            </a:endParaRP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Goal: move from vague to specific.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AE1A38-670B-005D-4203-B7AFA616F96F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D0B9FF-8203-CB95-50B1-D2909C28FEBB}"/>
              </a:ext>
            </a:extLst>
          </p:cNvPr>
          <p:cNvSpPr txBox="1"/>
          <p:nvPr/>
        </p:nvSpPr>
        <p:spPr>
          <a:xfrm>
            <a:off x="304800" y="6502400"/>
            <a:ext cx="355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B7464"/>
                </a:solidFill>
                <a:latin typeface="Aptos" panose="020B0004020202020204" pitchFamily="34" charset="0"/>
              </a:rPr>
              <a:t>CallSense-AI teaching deck</a:t>
            </a:r>
          </a:p>
        </p:txBody>
      </p:sp>
    </p:spTree>
    <p:extLst>
      <p:ext uri="{BB962C8B-B14F-4D97-AF65-F5344CB8AC3E}">
        <p14:creationId xmlns:p14="http://schemas.microsoft.com/office/powerpoint/2010/main" val="442133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3951A-CEC1-A8BF-1CA3-4C08EBE31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solidFill>
                  <a:srgbClr val="2F2F2F"/>
                </a:solidFill>
                <a:latin typeface="Aptos Display" panose="020B0004020202020204" pitchFamily="34" charset="0"/>
              </a:rPr>
              <a:t>Step 2: Identify 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39DCB-5D83-AC9E-A12C-DC2F3DCA9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Who is impacted by this problem?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Customer Support Team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Sales Team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Product Team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Leadership</a:t>
            </a:r>
          </a:p>
          <a:p>
            <a:endParaRPr lang="en-US" sz="1800">
              <a:solidFill>
                <a:srgbClr val="2F2F2F"/>
              </a:solidFill>
              <a:latin typeface="Aptos" panose="020B0004020202020204" pitchFamily="34" charset="0"/>
            </a:endParaRP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Key insight: each stakeholder sees a different version of the problem.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546FAF-3884-6AC0-EC9E-193936E4EE33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3136AF-4719-2A95-5069-37BCA8D08CD5}"/>
              </a:ext>
            </a:extLst>
          </p:cNvPr>
          <p:cNvSpPr txBox="1"/>
          <p:nvPr/>
        </p:nvSpPr>
        <p:spPr>
          <a:xfrm>
            <a:off x="304800" y="6502400"/>
            <a:ext cx="355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B7464"/>
                </a:solidFill>
                <a:latin typeface="Aptos" panose="020B0004020202020204" pitchFamily="34" charset="0"/>
              </a:rPr>
              <a:t>CallSense-AI teaching deck</a:t>
            </a:r>
          </a:p>
        </p:txBody>
      </p:sp>
    </p:spTree>
    <p:extLst>
      <p:ext uri="{BB962C8B-B14F-4D97-AF65-F5344CB8AC3E}">
        <p14:creationId xmlns:p14="http://schemas.microsoft.com/office/powerpoint/2010/main" val="582450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3B0FE-AFED-FD67-CAD0-01906C60D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solidFill>
                  <a:srgbClr val="2F2F2F"/>
                </a:solidFill>
                <a:latin typeface="Aptos Display" panose="020B0004020202020204" pitchFamily="34" charset="0"/>
              </a:rPr>
              <a:t>Step 3: Break into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9ED59-F4FC-7875-F5DD-74E18717C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Translate the problem into actionable needs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Visibility into customer complaints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Tracking of call outcomes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Understanding customer intent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Identifying friction points</a:t>
            </a:r>
          </a:p>
          <a:p>
            <a:endParaRPr lang="en-US" sz="1800">
              <a:solidFill>
                <a:srgbClr val="2F2F2F"/>
              </a:solidFill>
              <a:latin typeface="Aptos" panose="020B0004020202020204" pitchFamily="34" charset="0"/>
            </a:endParaRP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Focus: what do we need to know or build?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8B1C7A-81BC-CB3C-4C2C-CE397A320C13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871DC8-106D-60F6-7719-9D70798A963E}"/>
              </a:ext>
            </a:extLst>
          </p:cNvPr>
          <p:cNvSpPr txBox="1"/>
          <p:nvPr/>
        </p:nvSpPr>
        <p:spPr>
          <a:xfrm>
            <a:off x="304800" y="6502400"/>
            <a:ext cx="355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B7464"/>
                </a:solidFill>
                <a:latin typeface="Aptos" panose="020B0004020202020204" pitchFamily="34" charset="0"/>
              </a:rPr>
              <a:t>CallSense-AI teaching deck</a:t>
            </a:r>
          </a:p>
        </p:txBody>
      </p:sp>
    </p:spTree>
    <p:extLst>
      <p:ext uri="{BB962C8B-B14F-4D97-AF65-F5344CB8AC3E}">
        <p14:creationId xmlns:p14="http://schemas.microsoft.com/office/powerpoint/2010/main" val="1782469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1C53E-33F1-6FDB-D4A5-43179041E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solidFill>
                  <a:srgbClr val="2F2F2F"/>
                </a:solidFill>
                <a:latin typeface="Aptos Display" panose="020B0004020202020204" pitchFamily="34" charset="0"/>
              </a:rPr>
              <a:t>Step 4: Define Success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9D046-44DD-E9F5-F909-50937E962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How do we measure improvement?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Reduced customer complaints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Increased customer retention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Improved satisfaction scores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Better call outcomes</a:t>
            </a:r>
          </a:p>
          <a:p>
            <a:endParaRPr lang="en-US" sz="1800">
              <a:solidFill>
                <a:srgbClr val="2F2F2F"/>
              </a:solidFill>
              <a:latin typeface="Aptos" panose="020B0004020202020204" pitchFamily="34" charset="0"/>
            </a:endParaRP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If we cannot measure it, we cannot improve it.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D98B8B-53A6-4957-9017-2EB2F58C9387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8B96D0-B237-1472-A4B0-82C6EE5F486A}"/>
              </a:ext>
            </a:extLst>
          </p:cNvPr>
          <p:cNvSpPr txBox="1"/>
          <p:nvPr/>
        </p:nvSpPr>
        <p:spPr>
          <a:xfrm>
            <a:off x="304800" y="6502400"/>
            <a:ext cx="355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B7464"/>
                </a:solidFill>
                <a:latin typeface="Aptos" panose="020B0004020202020204" pitchFamily="34" charset="0"/>
              </a:rPr>
              <a:t>CallSense-AI teaching deck</a:t>
            </a:r>
          </a:p>
        </p:txBody>
      </p:sp>
    </p:spTree>
    <p:extLst>
      <p:ext uri="{BB962C8B-B14F-4D97-AF65-F5344CB8AC3E}">
        <p14:creationId xmlns:p14="http://schemas.microsoft.com/office/powerpoint/2010/main" val="3909912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23F21-EA53-1BEA-BA08-6160A74C6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solidFill>
                  <a:srgbClr val="2F2F2F"/>
                </a:solidFill>
                <a:latin typeface="Aptos Display" panose="020B0004020202020204" pitchFamily="34" charset="0"/>
              </a:rPr>
              <a:t>Case Study: CallSense-AI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A5E1A-694D-E8AC-4F77-A692FC553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Real-world application of the framework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Initial situation: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Declining sales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Negative customer feedback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Increasing support pressure</a:t>
            </a:r>
          </a:p>
          <a:p>
            <a:endParaRPr lang="en-US" sz="1800">
              <a:solidFill>
                <a:srgbClr val="2F2F2F"/>
              </a:solidFill>
              <a:latin typeface="Aptos" panose="020B0004020202020204" pitchFamily="34" charset="0"/>
            </a:endParaRP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Core question: what is actually driving dissatisfaction and churn?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C73117-4443-5504-01EE-4A3BEB3B4B81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A259AF-B8AD-7703-0104-26AB171F3A62}"/>
              </a:ext>
            </a:extLst>
          </p:cNvPr>
          <p:cNvSpPr txBox="1"/>
          <p:nvPr/>
        </p:nvSpPr>
        <p:spPr>
          <a:xfrm>
            <a:off x="9906000" y="431800"/>
            <a:ext cx="190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Aptos" panose="020B0004020202020204" pitchFamily="34" charset="0"/>
              </a:rPr>
              <a:t>CallSense-AI case study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5C7017-98B2-E134-C459-0DD38628FC1D}"/>
              </a:ext>
            </a:extLst>
          </p:cNvPr>
          <p:cNvSpPr txBox="1"/>
          <p:nvPr/>
        </p:nvSpPr>
        <p:spPr>
          <a:xfrm>
            <a:off x="304800" y="6502400"/>
            <a:ext cx="355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B7464"/>
                </a:solidFill>
                <a:latin typeface="Aptos" panose="020B0004020202020204" pitchFamily="34" charset="0"/>
              </a:rPr>
              <a:t>CallSense-AI teaching deck</a:t>
            </a:r>
          </a:p>
        </p:txBody>
      </p:sp>
    </p:spTree>
    <p:extLst>
      <p:ext uri="{BB962C8B-B14F-4D97-AF65-F5344CB8AC3E}">
        <p14:creationId xmlns:p14="http://schemas.microsoft.com/office/powerpoint/2010/main" val="3579334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C385F-3AE5-2A53-3F75-824081045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solidFill>
                  <a:srgbClr val="2F2F2F"/>
                </a:solidFill>
                <a:latin typeface="Aptos Display" panose="020B0004020202020204" pitchFamily="34" charset="0"/>
              </a:rPr>
              <a:t>Case Walkthrough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5253F-A2CD-6C03-AA23-594550650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Problem refinement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From: "Sales are dropping"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To: "Customer churn linked to poor support interactions"</a:t>
            </a:r>
          </a:p>
          <a:p>
            <a:endParaRPr lang="en-US" sz="1800">
              <a:solidFill>
                <a:srgbClr val="2F2F2F"/>
              </a:solidFill>
              <a:latin typeface="Aptos" panose="020B0004020202020204" pitchFamily="34" charset="0"/>
            </a:endParaRP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Key discovery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- 6 intent archetypes discovered from call transcripts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Subscription cancellation calls drove 38% of escalations while representing roughly 25% of volume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Technical support talk-ratio overload exposed about $3.4k/month in avoidable cost</a:t>
            </a:r>
          </a:p>
          <a:p>
            <a:endParaRPr lang="en-US" sz="1800">
              <a:solidFill>
                <a:srgbClr val="2F2F2F"/>
              </a:solidFill>
              <a:latin typeface="Aptos" panose="020B0004020202020204" pitchFamily="34" charset="0"/>
            </a:endParaRP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Requirements identified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Analyze conversations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Detect call intent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Identify recurring friction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Generate actionable business insights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4991FB-88BA-2359-DED8-09450E9C9D8D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AA406D-9513-1104-A4F6-9C50BBFF1D36}"/>
              </a:ext>
            </a:extLst>
          </p:cNvPr>
          <p:cNvSpPr txBox="1"/>
          <p:nvPr/>
        </p:nvSpPr>
        <p:spPr>
          <a:xfrm>
            <a:off x="9906000" y="431800"/>
            <a:ext cx="190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Aptos" panose="020B0004020202020204" pitchFamily="34" charset="0"/>
              </a:rPr>
              <a:t>CallSense-AI case study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993C2C-6DC7-620E-C2BA-A5A8DCB725E7}"/>
              </a:ext>
            </a:extLst>
          </p:cNvPr>
          <p:cNvSpPr txBox="1"/>
          <p:nvPr/>
        </p:nvSpPr>
        <p:spPr>
          <a:xfrm>
            <a:off x="304800" y="6502400"/>
            <a:ext cx="355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B7464"/>
                </a:solidFill>
                <a:latin typeface="Aptos" panose="020B0004020202020204" pitchFamily="34" charset="0"/>
              </a:rPr>
              <a:t>CallSense-AI teaching deck</a:t>
            </a:r>
          </a:p>
        </p:txBody>
      </p:sp>
    </p:spTree>
    <p:extLst>
      <p:ext uri="{BB962C8B-B14F-4D97-AF65-F5344CB8AC3E}">
        <p14:creationId xmlns:p14="http://schemas.microsoft.com/office/powerpoint/2010/main" val="2210729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54B7B-9214-5F3E-EDD5-748F5B1D9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solidFill>
                  <a:srgbClr val="2F2F2F"/>
                </a:solidFill>
                <a:latin typeface="Aptos Display" panose="020B0004020202020204" pitchFamily="34" charset="0"/>
              </a:rPr>
              <a:t>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611FA-2A7C-799F-3575-A891C641B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Shift from data to decisions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Instead of only viewing dashboards, the team could: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Understand why customers were unhappy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Pinpoint root causes behind churn and escalations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Prioritize the highest-risk call archetypes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Protect privacy with PII redaction before downstream NLP</a:t>
            </a:r>
          </a:p>
          <a:p>
            <a:endParaRPr lang="en-US" sz="1800">
              <a:solidFill>
                <a:srgbClr val="2F2F2F"/>
              </a:solidFill>
              <a:latin typeface="Aptos" panose="020B0004020202020204" pitchFamily="34" charset="0"/>
            </a:endParaRP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Enabling stack: MPNet embeddings, UMAP + HDBSCAN clustering, BART zero-shot intent labeling, BERT-NER redaction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586613-2605-5D67-0B07-F7A40794804D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AC69D9-2873-FE28-CC70-BA9AB5A7FBFB}"/>
              </a:ext>
            </a:extLst>
          </p:cNvPr>
          <p:cNvSpPr txBox="1"/>
          <p:nvPr/>
        </p:nvSpPr>
        <p:spPr>
          <a:xfrm>
            <a:off x="9906000" y="431800"/>
            <a:ext cx="190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Aptos" panose="020B0004020202020204" pitchFamily="34" charset="0"/>
              </a:rPr>
              <a:t>CallSense-AI case study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3CD28D-D38F-B879-F320-5EA3A3EEE54A}"/>
              </a:ext>
            </a:extLst>
          </p:cNvPr>
          <p:cNvSpPr txBox="1"/>
          <p:nvPr/>
        </p:nvSpPr>
        <p:spPr>
          <a:xfrm>
            <a:off x="304800" y="6502400"/>
            <a:ext cx="355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B7464"/>
                </a:solidFill>
                <a:latin typeface="Aptos" panose="020B0004020202020204" pitchFamily="34" charset="0"/>
              </a:rPr>
              <a:t>CallSense-AI teaching deck</a:t>
            </a:r>
          </a:p>
        </p:txBody>
      </p:sp>
    </p:spTree>
    <p:extLst>
      <p:ext uri="{BB962C8B-B14F-4D97-AF65-F5344CB8AC3E}">
        <p14:creationId xmlns:p14="http://schemas.microsoft.com/office/powerpoint/2010/main" val="332855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8782C-2BEC-1455-3749-9F61BC244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solidFill>
                  <a:srgbClr val="2F2F2F"/>
                </a:solidFill>
                <a:latin typeface="Aptos Display" panose="020B0004020202020204" pitchFamily="34" charset="0"/>
              </a:rPr>
              <a:t>Quick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04EF7-D850-8253-A56C-40B1C3EC9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Think like a Business Analyst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Question: what is one key question you would ask before building any solution here?</a:t>
            </a:r>
          </a:p>
          <a:p>
            <a:endParaRPr lang="en-US" sz="1800">
              <a:solidFill>
                <a:srgbClr val="2F2F2F"/>
              </a:solidFill>
              <a:latin typeface="Aptos" panose="020B0004020202020204" pitchFamily="34" charset="0"/>
            </a:endParaRP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Follow-up: what would you validate first before committing resources?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CB69E1-500A-4894-E601-2D1E97EE80E4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87E6B-6C18-019D-ECCB-0DD14BD99C72}"/>
              </a:ext>
            </a:extLst>
          </p:cNvPr>
          <p:cNvSpPr txBox="1"/>
          <p:nvPr/>
        </p:nvSpPr>
        <p:spPr>
          <a:xfrm>
            <a:off x="304800" y="6502400"/>
            <a:ext cx="355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B7464"/>
                </a:solidFill>
                <a:latin typeface="Aptos" panose="020B0004020202020204" pitchFamily="34" charset="0"/>
              </a:rPr>
              <a:t>CallSense-AI teaching deck</a:t>
            </a:r>
          </a:p>
        </p:txBody>
      </p:sp>
    </p:spTree>
    <p:extLst>
      <p:ext uri="{BB962C8B-B14F-4D97-AF65-F5344CB8AC3E}">
        <p14:creationId xmlns:p14="http://schemas.microsoft.com/office/powerpoint/2010/main" val="824885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75B25-9CD6-3194-A1D3-FA8FE6486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solidFill>
                  <a:srgbClr val="2F2F2F"/>
                </a:solidFill>
                <a:latin typeface="Aptos Display" panose="020B0004020202020204" pitchFamily="34" charset="0"/>
              </a:rPr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3F61A-2B7F-AA7C-4E2D-31880920F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Business problems must be clearly defined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Symptoms are not the real problem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Requirements guide the right solution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Success must be measurable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Good analysis leads to better decisions</a:t>
            </a:r>
          </a:p>
          <a:p>
            <a:endParaRPr lang="en-US" sz="1800">
              <a:solidFill>
                <a:srgbClr val="2F2F2F"/>
              </a:solidFill>
              <a:latin typeface="Aptos" panose="020B0004020202020204" pitchFamily="34" charset="0"/>
            </a:endParaRP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Final question: what would you do differently next time before jumping into a solution?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8CE102-9B0C-7F0A-1672-A998F05BA3B4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36EF57-8E03-6416-C712-1E29DA7FA6C7}"/>
              </a:ext>
            </a:extLst>
          </p:cNvPr>
          <p:cNvSpPr txBox="1"/>
          <p:nvPr/>
        </p:nvSpPr>
        <p:spPr>
          <a:xfrm>
            <a:off x="304800" y="6502400"/>
            <a:ext cx="355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B7464"/>
                </a:solidFill>
                <a:latin typeface="Aptos" panose="020B0004020202020204" pitchFamily="34" charset="0"/>
              </a:rPr>
              <a:t>CallSense-AI teaching deck</a:t>
            </a:r>
          </a:p>
        </p:txBody>
      </p:sp>
    </p:spTree>
    <p:extLst>
      <p:ext uri="{BB962C8B-B14F-4D97-AF65-F5344CB8AC3E}">
        <p14:creationId xmlns:p14="http://schemas.microsoft.com/office/powerpoint/2010/main" val="820327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610</Words>
  <Application>Microsoft Office PowerPoint</Application>
  <PresentationFormat>Widescreen</PresentationFormat>
  <Paragraphs>121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Light</vt:lpstr>
      <vt:lpstr>Office Theme</vt:lpstr>
      <vt:lpstr>From Business Problem to Clear Requirements</vt:lpstr>
      <vt:lpstr>The Scenario</vt:lpstr>
      <vt:lpstr>The Common Mistake</vt:lpstr>
      <vt:lpstr>A Simple Framework</vt:lpstr>
      <vt:lpstr>Step 1: Clarify the Problem</vt:lpstr>
      <vt:lpstr>Step 2: Identify Stakeholders</vt:lpstr>
      <vt:lpstr>Step 3: Break into Requirements</vt:lpstr>
      <vt:lpstr>Step 4: Define Success Metrics</vt:lpstr>
      <vt:lpstr>Case Study: CallSense-AI</vt:lpstr>
      <vt:lpstr>Case Walkthrough</vt:lpstr>
      <vt:lpstr>Business Impact</vt:lpstr>
      <vt:lpstr>Quick Discussion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Kingsley Ohere</dc:creator>
  <cp:lastModifiedBy>Kingsley Ohere</cp:lastModifiedBy>
  <cp:revision>1</cp:revision>
  <dcterms:created xsi:type="dcterms:W3CDTF">2026-04-01T10:25:03Z</dcterms:created>
  <dcterms:modified xsi:type="dcterms:W3CDTF">2026-04-01T10:25:03Z</dcterms:modified>
</cp:coreProperties>
</file>