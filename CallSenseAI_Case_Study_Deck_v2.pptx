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1" d="100"/>
          <a:sy n="31" d="100"/>
        </p:scale>
        <p:origin x="47" y="1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42C88-C718-1212-E2E1-169A4CE5E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FDBBF-78C4-E8E2-FD90-C6BB46657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EAFF8-A3E7-509A-E4C9-4CEBF552C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B579-50DF-46B3-9CBE-1DE52CA3C2F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9C067-72CF-359A-9DCD-A3D40204A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17BED-80E1-2777-97FD-1B0FBEDE6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1D087-62E9-4034-909A-7D2268440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476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07A84-6B85-0EE1-2511-F2F4ADEE4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B4708-FE77-1945-5A55-505257773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CED9E-8720-26BE-7241-8265EC6CD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B579-50DF-46B3-9CBE-1DE52CA3C2F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DE40-7528-36AB-8A7B-AE83E3DAA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69E8E-4E99-0E74-221F-1017A1AF0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1D087-62E9-4034-909A-7D2268440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6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E5E59-7EE2-3F0F-6551-11F046710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B04A4-110A-D70B-9B42-4AD1525AC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931F8-0B66-2166-AD7E-874EC1A5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B579-50DF-46B3-9CBE-1DE52CA3C2F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3A42C-C83C-3960-FBA1-C827A21D5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740E0-EFDA-3FE7-E3C0-4E42DEDE2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1D087-62E9-4034-909A-7D2268440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3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AB18F-84BF-79A0-F3D1-EDF57D22C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2D020-A13D-1632-3A3B-888F1D0E23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44010-4185-A337-CB25-D434DFFFE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0A5A4-B448-4058-7A38-EEB3793C3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B579-50DF-46B3-9CBE-1DE52CA3C2F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1B55B-61B3-1394-4D82-DE65A61E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5084C-4FA4-A8C3-491E-24FA63D89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1D087-62E9-4034-909A-7D2268440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9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78A2A-3BDB-0BC5-662A-6B1234DB9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5F2D3-8492-436E-B80B-AB599E840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5AC03-2155-44DE-6FDD-827002CDF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F512A-7C34-27BB-6471-71F151EB5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2FD7FF-FFF3-1BDA-4C8B-0E355FB75C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CB7CAC-217C-A451-A4EF-EBCF355D3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B579-50DF-46B3-9CBE-1DE52CA3C2F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2D09C7-BC79-AC77-6251-7867786D9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8732C0-7503-72F7-BB17-647EE3F86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1D087-62E9-4034-909A-7D2268440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2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5E760-1D35-DEDD-E150-F2927B39E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D79F1D-8CE1-A6F6-D304-AE215D6C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B579-50DF-46B3-9CBE-1DE52CA3C2F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F0B687-E84A-8645-A03C-63BFFFEA4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E769D2-1361-C8A0-EACF-A801AD11F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1D087-62E9-4034-909A-7D2268440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5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DD801B-3D86-8937-7AE5-EA101A302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B579-50DF-46B3-9CBE-1DE52CA3C2F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914F4-6AD2-AD9C-49C3-0F98EEAA9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5985D-986D-6D47-AF8F-CD012F7D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1D087-62E9-4034-909A-7D2268440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87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3043A-A30D-C22D-A430-B9357FAEF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6FFBD-259F-9E99-165E-3515633C0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42085-7369-4BFD-A6E2-EBB3FDE2B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C1B96-9519-4A80-53D8-BC1A8E3B1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B579-50DF-46B3-9CBE-1DE52CA3C2F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AA08D-B4E4-43C5-B6E2-1E260A579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CC63F-16A2-CE9B-35AA-F2B420912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1D087-62E9-4034-909A-7D2268440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434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84C0-8ED6-F292-5B7A-A8B561078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D81306-BA8E-0755-05B1-88E812ED51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DF961-5C61-27C9-42A6-7C2291C33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3BA5A-43C0-2220-4C0C-A7C3B1179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B579-50DF-46B3-9CBE-1DE52CA3C2F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C5299-61F7-F740-7AAB-F5A23481E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5A3C8-A79A-AE2A-3538-6D11BF4D8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1D087-62E9-4034-909A-7D2268440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982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A1833-2970-8CD7-F1BB-7C79703D2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4CC68-9F79-4470-01FF-CFFBF0C00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11682-DE20-9665-3B31-83D632EEB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B579-50DF-46B3-9CBE-1DE52CA3C2F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A66F9-E609-7573-5D2E-D24C6B14C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FED1D-7CAB-E836-4D9F-3EB9072F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1D087-62E9-4034-909A-7D2268440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26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8FBF26-C9E6-6C7A-63A8-389FBB69A3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E24DAC-4CAC-DF8E-EC8C-95D36429E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1AF4A-9630-8C24-B9D1-1EA6753A6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B579-50DF-46B3-9CBE-1DE52CA3C2F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3CD52-47AA-398B-0940-EAFBDEB71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DEC3C-09A7-6A5C-917B-35DF2D5F5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1D087-62E9-4034-909A-7D2268440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24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A6F7D3-3491-BE08-0FF1-9BBF4D21E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E7F65-64D6-45EE-B46D-A29C0D43D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9B5F3-B39A-1F34-DA51-727D758285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7B579-50DF-46B3-9CBE-1DE52CA3C2F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65B26-BD34-5DFE-4938-85EED4773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A74E1-D26C-08FD-09E9-1E0863CC0F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1D087-62E9-4034-909A-7D2268440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48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BF718-1517-0F56-43BC-22EED385C9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Aptos Display" panose="020B0004020202020204" pitchFamily="34" charset="0"/>
              </a:rPr>
              <a:t>From Business Problem to Clear Requirements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42D32-A163-9C9C-1672-D92E66E9EC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>
                <a:solidFill>
                  <a:srgbClr val="F2F2F2"/>
                </a:solidFill>
                <a:latin typeface="Aptos" panose="020B0004020202020204" pitchFamily="34" charset="0"/>
              </a:rPr>
              <a:t>A Practical Framework Using a Real Case Study</a:t>
            </a:r>
          </a:p>
          <a:p>
            <a:r>
              <a:rPr lang="en-US" sz="1800">
                <a:solidFill>
                  <a:srgbClr val="F2F2F2"/>
                </a:solidFill>
                <a:latin typeface="Aptos" panose="020B0004020202020204" pitchFamily="34" charset="0"/>
              </a:rPr>
              <a:t>Presented by: Kingsley Ohere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6D38CE-4F4C-34FC-E35A-151DBADB0D73}"/>
              </a:ext>
            </a:extLst>
          </p:cNvPr>
          <p:cNvSpPr txBox="1"/>
          <p:nvPr/>
        </p:nvSpPr>
        <p:spPr>
          <a:xfrm>
            <a:off x="10617200" y="152400"/>
            <a:ext cx="12192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AscendX</a:t>
            </a:r>
          </a:p>
        </p:txBody>
      </p:sp>
    </p:spTree>
    <p:extLst>
      <p:ext uri="{BB962C8B-B14F-4D97-AF65-F5344CB8AC3E}">
        <p14:creationId xmlns:p14="http://schemas.microsoft.com/office/powerpoint/2010/main" val="3512770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3A8C-9705-9419-5081-BF526E9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The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178B7-C098-812A-ACDF-9F97CF491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A company is facing two issues: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Sales are declining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Customer reviews are getting worse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Leadership asks: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"Can we build a dashboard or AI system to fix this?"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Question: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Build immediately, or understand the problem first?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8944CB-3EB5-F4F6-0BD5-ED7D4DC26C95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3488BE-408A-0694-EF96-0148C298980F}"/>
              </a:ext>
            </a:extLst>
          </p:cNvPr>
          <p:cNvSpPr txBox="1"/>
          <p:nvPr/>
        </p:nvSpPr>
        <p:spPr>
          <a:xfrm>
            <a:off x="10617200" y="152400"/>
            <a:ext cx="12192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 b="1">
                <a:solidFill>
                  <a:srgbClr val="595E11"/>
                </a:solidFill>
                <a:latin typeface="Aptos" panose="020B0004020202020204" pitchFamily="34" charset="0"/>
              </a:rPr>
              <a:t>AscendX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D8A232-88BC-1EE0-B40D-3F768B40E277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221984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A4274-C795-82AE-5DA9-6AC9AEDB8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The Common Mistake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33775-2BF8-1EAB-C112-A4661B4EB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Jumping straight into solutions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Building dashboards too early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Applying AI without clarity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Solving symptoms, not the real problem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Result: wasted time, wrong solutions, poor outcomes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Discussion: Why is this risky?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3C1186-3081-E113-50B3-A6FEEFD10AC0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EADCB6-E6BF-0B60-6717-5D2AF21C9EE9}"/>
              </a:ext>
            </a:extLst>
          </p:cNvPr>
          <p:cNvSpPr txBox="1"/>
          <p:nvPr/>
        </p:nvSpPr>
        <p:spPr>
          <a:xfrm>
            <a:off x="10617200" y="152400"/>
            <a:ext cx="12192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 b="1">
                <a:solidFill>
                  <a:srgbClr val="595E11"/>
                </a:solidFill>
                <a:latin typeface="Aptos" panose="020B0004020202020204" pitchFamily="34" charset="0"/>
              </a:rPr>
              <a:t>AscendX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50D2A6-9335-22CE-D657-9B7F12890521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691884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FBE0C-AA80-895D-D284-5C933003A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A Simple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524AA-FFCC-FFE6-54C1-0DBCCC145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How do we approach this properly?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1. Clarify the business problem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2. Identify stakeholders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3. Break into requirements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4. Define success metrics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3D7144-9DB3-66C1-7ED3-0956AF28EF16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96F46-78C0-7B64-5D21-832820521605}"/>
              </a:ext>
            </a:extLst>
          </p:cNvPr>
          <p:cNvSpPr txBox="1"/>
          <p:nvPr/>
        </p:nvSpPr>
        <p:spPr>
          <a:xfrm>
            <a:off x="10617200" y="152400"/>
            <a:ext cx="12192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 b="1">
                <a:solidFill>
                  <a:srgbClr val="595E11"/>
                </a:solidFill>
                <a:latin typeface="Aptos" panose="020B0004020202020204" pitchFamily="34" charset="0"/>
              </a:rPr>
              <a:t>AscendX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30490D-7F63-5DD4-E663-22BC2B3AC5D7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1308490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01C4A-18D6-999A-712A-3E6A7BF93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Step 1: Clarify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D648A-2B29-56DD-136A-0453C506B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Start with the right question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"Sales are dropping" is a symptom.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Ask why: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Are customers leaving?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Is conversion declining?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Is customer experience poor?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Goal: move from vague to specific.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D6E32-1D00-9854-3C5C-AF5E2792F176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E77A4E-ED19-DEE0-F8C7-6EC34858418F}"/>
              </a:ext>
            </a:extLst>
          </p:cNvPr>
          <p:cNvSpPr txBox="1"/>
          <p:nvPr/>
        </p:nvSpPr>
        <p:spPr>
          <a:xfrm>
            <a:off x="10617200" y="152400"/>
            <a:ext cx="12192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 b="1">
                <a:solidFill>
                  <a:srgbClr val="595E11"/>
                </a:solidFill>
                <a:latin typeface="Aptos" panose="020B0004020202020204" pitchFamily="34" charset="0"/>
              </a:rPr>
              <a:t>AscendX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A96C27-A57A-1D45-23B0-219824D80E8E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3412469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058E2-4589-188B-E11F-6F0354087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Step 2: Identify 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F4EA1-321A-7E9C-7C11-CF321372D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Who is impacted by this problem?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Customer Support Team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Sales Team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Product Team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Leadership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Key insight: each stakeholder sees a different version of the problem.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4258C4-C262-9F3B-91C7-5EE79D1EBE54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B5E3EE-D98B-717A-BCF0-EA44620377B0}"/>
              </a:ext>
            </a:extLst>
          </p:cNvPr>
          <p:cNvSpPr txBox="1"/>
          <p:nvPr/>
        </p:nvSpPr>
        <p:spPr>
          <a:xfrm>
            <a:off x="10617200" y="152400"/>
            <a:ext cx="12192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 b="1">
                <a:solidFill>
                  <a:srgbClr val="595E11"/>
                </a:solidFill>
                <a:latin typeface="Aptos" panose="020B0004020202020204" pitchFamily="34" charset="0"/>
              </a:rPr>
              <a:t>AscendX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F2003E-694C-59D4-C98A-CAF3055CA261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42609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A8A93-8908-7FD4-6F0F-10806357A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Step 3: Break into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F5676-ED6C-7974-336E-9849BB345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Translate the problem into actionable needs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Visibility into customer complaints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Tracking of call outcomes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Understanding customer intent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Identifying friction points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Focus: what do we need to know or build?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D80128-0D79-4987-3FAB-89A3FE2807E5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13FFB-5489-03D5-5A51-CB45D14D35F3}"/>
              </a:ext>
            </a:extLst>
          </p:cNvPr>
          <p:cNvSpPr txBox="1"/>
          <p:nvPr/>
        </p:nvSpPr>
        <p:spPr>
          <a:xfrm>
            <a:off x="10617200" y="152400"/>
            <a:ext cx="12192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 b="1">
                <a:solidFill>
                  <a:srgbClr val="595E11"/>
                </a:solidFill>
                <a:latin typeface="Aptos" panose="020B0004020202020204" pitchFamily="34" charset="0"/>
              </a:rPr>
              <a:t>AscendX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6AAA2E-3690-0593-B51E-46F8DC37B1B0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210547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7F763-B14C-7A95-BF29-A6920C8B0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Step 4: Define Success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BD911-8679-27FD-D8AE-43B52162D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How do we measure improvement?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Reduced customer complaints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Increased customer retention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Improved satisfaction scores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Better call outcomes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If we cannot measure it, we cannot improve it.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E59CE-343E-B230-FA58-1CA797468F40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F64802-9AB6-9986-A65A-CF54D11EB21E}"/>
              </a:ext>
            </a:extLst>
          </p:cNvPr>
          <p:cNvSpPr txBox="1"/>
          <p:nvPr/>
        </p:nvSpPr>
        <p:spPr>
          <a:xfrm>
            <a:off x="10617200" y="152400"/>
            <a:ext cx="12192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 b="1">
                <a:solidFill>
                  <a:srgbClr val="595E11"/>
                </a:solidFill>
                <a:latin typeface="Aptos" panose="020B0004020202020204" pitchFamily="34" charset="0"/>
              </a:rPr>
              <a:t>AscendX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400B70-E046-7E88-18B5-955F76875AE4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2271139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4659-F882-A83A-C265-F8F4C5AC7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Case Study: CallSense-AI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AC923-78C9-3021-688D-8EC77C865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Real-world application of the framework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Initial situation: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Declining sales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Negative customer feedback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Increasing support pressure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Core question: what is actually driving dissatisfaction and churn?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C71F1E-2EAA-CEC9-19E3-CAEB070ED4F0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E1996-7BF6-A02D-AD8D-9C7A01F548C1}"/>
              </a:ext>
            </a:extLst>
          </p:cNvPr>
          <p:cNvSpPr txBox="1"/>
          <p:nvPr/>
        </p:nvSpPr>
        <p:spPr>
          <a:xfrm>
            <a:off x="10617200" y="152400"/>
            <a:ext cx="12192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 b="1">
                <a:solidFill>
                  <a:srgbClr val="595E11"/>
                </a:solidFill>
                <a:latin typeface="Aptos" panose="020B0004020202020204" pitchFamily="34" charset="0"/>
              </a:rPr>
              <a:t>AscendX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52B26B-5E9D-F555-29C6-A54BB02E1034}"/>
              </a:ext>
            </a:extLst>
          </p:cNvPr>
          <p:cNvSpPr txBox="1"/>
          <p:nvPr/>
        </p:nvSpPr>
        <p:spPr>
          <a:xfrm>
            <a:off x="9906000" y="431800"/>
            <a:ext cx="190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Aptos" panose="020B0004020202020204" pitchFamily="34" charset="0"/>
              </a:rPr>
              <a:t>CallSense-AI case study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8B6D63-2333-0F64-A142-FE6AEAB24E8F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3348675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0371-7182-C597-39D5-7BA3AA729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Case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33354-5BEC-DAD9-C3BB-BF870D951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Problem refinement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From: "Sales are dropping"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To: "Customer churn linked to poor support interactions"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Key discovery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- 6 intent archetypes discovered from call transcripts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Subscription cancellation calls drove 38% of escalations while representing roughly 25% of volume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Technical support talk-ratio overload exposed about $3.4k/month in avoidable cost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Requirements identified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Analyze conversations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Detect call intent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Identify recurring friction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Generate actionable business insights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5B9395-50D2-5D8F-614C-04401C102FB8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C6DFE6-3919-1E2C-B319-1B8CE207F57D}"/>
              </a:ext>
            </a:extLst>
          </p:cNvPr>
          <p:cNvSpPr txBox="1"/>
          <p:nvPr/>
        </p:nvSpPr>
        <p:spPr>
          <a:xfrm>
            <a:off x="10617200" y="152400"/>
            <a:ext cx="12192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 b="1">
                <a:solidFill>
                  <a:srgbClr val="595E11"/>
                </a:solidFill>
                <a:latin typeface="Aptos" panose="020B0004020202020204" pitchFamily="34" charset="0"/>
              </a:rPr>
              <a:t>AscendX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D1EFC6-E9EB-6DC4-B372-FC6178512768}"/>
              </a:ext>
            </a:extLst>
          </p:cNvPr>
          <p:cNvSpPr txBox="1"/>
          <p:nvPr/>
        </p:nvSpPr>
        <p:spPr>
          <a:xfrm>
            <a:off x="9906000" y="431800"/>
            <a:ext cx="190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Aptos" panose="020B0004020202020204" pitchFamily="34" charset="0"/>
              </a:rPr>
              <a:t>CallSense-AI case study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9CF3E1-7954-7007-B7AC-D993142ACE4B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3699609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1ABA3-9AF8-47ED-B8E4-A9D3940D1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F8878-221E-A77E-9C35-232F34457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Shift from data to decisions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Instead of only viewing dashboards, the team could: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Understand why customers were unhappy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Pinpoint root causes behind churn and escalations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Prioritize the highest-risk call archetypes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Protect privacy with PII redaction before downstream NLP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Enabling stack: MPNet embeddings, UMAP + HDBSCAN clustering, BART zero-shot intent labeling, BERT-NER redaction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1DEA9-1418-6B75-5CBD-B37A364033DF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C76842-EEF1-F87E-06A9-D51DDD0DE11E}"/>
              </a:ext>
            </a:extLst>
          </p:cNvPr>
          <p:cNvSpPr txBox="1"/>
          <p:nvPr/>
        </p:nvSpPr>
        <p:spPr>
          <a:xfrm>
            <a:off x="10617200" y="152400"/>
            <a:ext cx="12192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 b="1">
                <a:solidFill>
                  <a:srgbClr val="595E11"/>
                </a:solidFill>
                <a:latin typeface="Aptos" panose="020B0004020202020204" pitchFamily="34" charset="0"/>
              </a:rPr>
              <a:t>AscendX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24BEA-BA0F-D2CC-8110-ECBA9D983607}"/>
              </a:ext>
            </a:extLst>
          </p:cNvPr>
          <p:cNvSpPr txBox="1"/>
          <p:nvPr/>
        </p:nvSpPr>
        <p:spPr>
          <a:xfrm>
            <a:off x="9906000" y="431800"/>
            <a:ext cx="190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0D9488"/>
                </a:solidFill>
                <a:latin typeface="Aptos" panose="020B0004020202020204" pitchFamily="34" charset="0"/>
              </a:rPr>
              <a:t>CallSense-AI case study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2E1884-4138-F33F-FD59-8126372DDC67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582948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367C6-527E-2C0D-6EE7-FE7B932B6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Quick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912B6-E911-53D0-9C3E-D9B9A1684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Think like a Business Analyst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Question: what is one key question you would ask before building any solution here?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Follow-up: what would you validate first before committing resources?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FE214A-9B59-016E-7C23-1333FB047A56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BE2AB0-7FF6-67A5-3D31-3963FA58E6F6}"/>
              </a:ext>
            </a:extLst>
          </p:cNvPr>
          <p:cNvSpPr txBox="1"/>
          <p:nvPr/>
        </p:nvSpPr>
        <p:spPr>
          <a:xfrm>
            <a:off x="10617200" y="152400"/>
            <a:ext cx="12192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 b="1">
                <a:solidFill>
                  <a:srgbClr val="595E11"/>
                </a:solidFill>
                <a:latin typeface="Aptos" panose="020B0004020202020204" pitchFamily="34" charset="0"/>
              </a:rPr>
              <a:t>AscendX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28CB00-F809-5922-CD71-893720784B4C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1077396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FA27F-A885-001D-E7CA-AF1AA9FBB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solidFill>
                  <a:srgbClr val="2F2F2F"/>
                </a:solidFill>
                <a:latin typeface="Aptos Display" panose="020B0004020202020204" pitchFamily="34" charset="0"/>
              </a:rPr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3ADB0-B7B7-4E08-18F6-077832BC3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Business problems must be clearly defined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Symptoms are not the real problem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Requirements guide the right solution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Success must be measurable</a:t>
            </a: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- Good analysis leads to better decisions</a:t>
            </a:r>
          </a:p>
          <a:p>
            <a:endParaRPr lang="en-US" sz="1800">
              <a:solidFill>
                <a:srgbClr val="2F2F2F"/>
              </a:solidFill>
              <a:latin typeface="Aptos" panose="020B0004020202020204" pitchFamily="34" charset="0"/>
            </a:endParaRPr>
          </a:p>
          <a:p>
            <a:r>
              <a:rPr lang="en-US" sz="1800">
                <a:solidFill>
                  <a:srgbClr val="2F2F2F"/>
                </a:solidFill>
                <a:latin typeface="Aptos" panose="020B0004020202020204" pitchFamily="34" charset="0"/>
              </a:rPr>
              <a:t>Final question: what would you do differently next time before jumping into a solution?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78DCF5-0288-D2F7-27DB-2C4E1E56378F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23736A-E5C5-D8B3-F354-F417535F4B29}"/>
              </a:ext>
            </a:extLst>
          </p:cNvPr>
          <p:cNvSpPr txBox="1"/>
          <p:nvPr/>
        </p:nvSpPr>
        <p:spPr>
          <a:xfrm>
            <a:off x="10617200" y="152400"/>
            <a:ext cx="12192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 b="1">
                <a:solidFill>
                  <a:srgbClr val="595E11"/>
                </a:solidFill>
                <a:latin typeface="Aptos" panose="020B0004020202020204" pitchFamily="34" charset="0"/>
              </a:rPr>
              <a:t>AscendX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E1635E-1AAF-50DF-74AF-9E1D8009E7AA}"/>
              </a:ext>
            </a:extLst>
          </p:cNvPr>
          <p:cNvSpPr txBox="1"/>
          <p:nvPr/>
        </p:nvSpPr>
        <p:spPr>
          <a:xfrm>
            <a:off x="304800" y="6502400"/>
            <a:ext cx="355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8B7464"/>
                </a:solidFill>
                <a:latin typeface="Aptos" panose="020B0004020202020204" pitchFamily="34" charset="0"/>
              </a:rPr>
              <a:t>CallSense-AI teaching deck</a:t>
            </a:r>
          </a:p>
        </p:txBody>
      </p:sp>
    </p:spTree>
    <p:extLst>
      <p:ext uri="{BB962C8B-B14F-4D97-AF65-F5344CB8AC3E}">
        <p14:creationId xmlns:p14="http://schemas.microsoft.com/office/powerpoint/2010/main" val="3148830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623</Words>
  <Application>Microsoft Office PowerPoint</Application>
  <PresentationFormat>Widescreen</PresentationFormat>
  <Paragraphs>134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Office Theme</vt:lpstr>
      <vt:lpstr>From Business Problem to Clear Requirements</vt:lpstr>
      <vt:lpstr>The Scenario</vt:lpstr>
      <vt:lpstr>The Common Mistake</vt:lpstr>
      <vt:lpstr>A Simple Framework</vt:lpstr>
      <vt:lpstr>Step 1: Clarify the Problem</vt:lpstr>
      <vt:lpstr>Step 2: Identify Stakeholders</vt:lpstr>
      <vt:lpstr>Step 3: Break into Requirements</vt:lpstr>
      <vt:lpstr>Step 4: Define Success Metrics</vt:lpstr>
      <vt:lpstr>Case Study: CallSense-AI</vt:lpstr>
      <vt:lpstr>Case Walkthrough</vt:lpstr>
      <vt:lpstr>Business Impact</vt:lpstr>
      <vt:lpstr>Quick Discussion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Kingsley Ohere</dc:creator>
  <cp:lastModifiedBy>Kingsley Ohere</cp:lastModifiedBy>
  <cp:revision>1</cp:revision>
  <dcterms:created xsi:type="dcterms:W3CDTF">2026-04-01T10:45:43Z</dcterms:created>
  <dcterms:modified xsi:type="dcterms:W3CDTF">2026-04-01T10:45:43Z</dcterms:modified>
</cp:coreProperties>
</file>